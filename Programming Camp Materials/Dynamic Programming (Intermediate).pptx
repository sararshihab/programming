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Google Sans Text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GoogleSansTex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GoogleSansText-italic.fntdata"/><Relationship Id="rId12" Type="http://schemas.openxmlformats.org/officeDocument/2006/relationships/slide" Target="slides/slide7.xml"/><Relationship Id="rId34" Type="http://schemas.openxmlformats.org/officeDocument/2006/relationships/font" Target="fonts/GoogleSansText-bold.fntdata"/><Relationship Id="rId15" Type="http://schemas.openxmlformats.org/officeDocument/2006/relationships/slide" Target="slides/slide10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36" Type="http://schemas.openxmlformats.org/officeDocument/2006/relationships/font" Target="fonts/GoogleSansText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367c0a08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367c0a08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38bbb978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38bbb978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367c0a08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367c0a08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367c0a08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367c0a08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38bbb978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38bbb978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8bbb978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38bbb978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38bbb978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38bbb978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cf4cacf76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cf4cacf7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38bbb978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38bbb97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38bbb978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38bbb978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8bbb978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38bbb978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38bbb978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38bbb978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38bbb978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38bbb978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38bbb978c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38bbb978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38bbb978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38bbb978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38bbb978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38bbb978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38bbb978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38bbb978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38bbb978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38bbb978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38bbb978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38bbb978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38bbb978c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38bbb978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38bbb978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838bbb978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38bbb978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38bbb978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38bbb978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38bbb978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38bbb978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38bbb978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38bbb978c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38bbb978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38bbb978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38bbb978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geeksforgeeks.org/digit-dp-introduction/" TargetMode="External"/><Relationship Id="rId4" Type="http://schemas.openxmlformats.org/officeDocument/2006/relationships/hyperlink" Target="https://codeforces.com/blog/entry/5396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spoj.com/problems/CPCRC1C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deforces.com/problemset/problem/55/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deforces.com/problemset/problem/55/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deforces.com/problemset/problem/55/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odeforces.com/problemset/problem/55/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tcoder.jp/contests/dp/tasks/dp_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eeksforgeeks.org/dsa/longest-common-subsequence-dp-4/" TargetMode="External"/><Relationship Id="rId4" Type="http://schemas.openxmlformats.org/officeDocument/2006/relationships/hyperlink" Target="https://www.geeksforgeeks.org/edit-distance-dp-5/" TargetMode="External"/><Relationship Id="rId5" Type="http://schemas.openxmlformats.org/officeDocument/2006/relationships/hyperlink" Target="https://www.shafaetsplanet.com/?p=3602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tcoder.jp/contests/dp/tasks/dp_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tcoder.jp/contests/dp/tasks/dp_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ses.fi/problemset/task/1639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ses.fi/problemset/task/1639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odeforces.com/blog/entry/20935" TargetMode="External"/><Relationship Id="rId4" Type="http://schemas.openxmlformats.org/officeDocument/2006/relationships/hyperlink" Target="https://www.google.com/search?q=https://www.topcoder.com/thrive/articles/dynamic-programming-on-trees" TargetMode="External"/><Relationship Id="rId5" Type="http://schemas.openxmlformats.org/officeDocument/2006/relationships/hyperlink" Target="https://www.shafaetsplanet.com/?p=582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geeksforgeeks.org/matrix-chain-multiplication-dp-8/" TargetMode="External"/><Relationship Id="rId4" Type="http://schemas.openxmlformats.org/officeDocument/2006/relationships/hyperlink" Target="https://www.shafaetsplanet.com/?p=3678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p-algorithms.com/game_theory/games_on_graphs.html" TargetMode="External"/><Relationship Id="rId4" Type="http://schemas.openxmlformats.org/officeDocument/2006/relationships/hyperlink" Target="https://www.google.com/search?q=https://www.geeksforgeeks.org/game-theory-and-grundy-numbers-or-sprague-grundy-theorem/" TargetMode="External"/><Relationship Id="rId5" Type="http://schemas.openxmlformats.org/officeDocument/2006/relationships/hyperlink" Target="https://www.shafaetsplanet.com/?p=2325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Programming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(Intermediate)</a:t>
            </a:r>
            <a:endParaRPr sz="3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67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Sharif Minhazul Islam Emon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 DP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Description:</a:t>
            </a:r>
            <a:r>
              <a:rPr lang="en" sz="1200">
                <a:solidFill>
                  <a:schemeClr val="dk1"/>
                </a:solidFill>
              </a:rPr>
              <a:t> A technique used to count numbers in a range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[L, R]</a:t>
            </a:r>
            <a:r>
              <a:rPr lang="en" sz="1200">
                <a:solidFill>
                  <a:schemeClr val="dk1"/>
                </a:solidFill>
              </a:rPr>
              <a:t> that satisfy a certain property based on their digits. The problem is usually solved by calculating the count up 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 sz="1200">
                <a:solidFill>
                  <a:schemeClr val="dk1"/>
                </a:solidFill>
              </a:rPr>
              <a:t> and subtracting the count up 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L-1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Resources:</a:t>
            </a:r>
            <a:endParaRPr b="1" sz="14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GeeksforGeeks - Digit DP Introduction</a:t>
            </a:r>
            <a:endParaRPr sz="1200" u="sng">
              <a:solidFill>
                <a:schemeClr val="hlink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Codeforces - Digit DP Tutorial</a:t>
            </a:r>
            <a:endParaRPr sz="1900"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 DP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How it Works (States):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index</a:t>
            </a:r>
            <a:r>
              <a:rPr lang="en" sz="1200">
                <a:solidFill>
                  <a:schemeClr val="dk1"/>
                </a:solidFill>
              </a:rPr>
              <a:t>: The current digit position we are considering.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tight (or limit)</a:t>
            </a:r>
            <a:r>
              <a:rPr lang="en" sz="1200">
                <a:solidFill>
                  <a:schemeClr val="dk1"/>
                </a:solidFill>
              </a:rPr>
              <a:t>: A bool flag indicating whether we are currently constrained by the digits of the upper bound (e.g., </a:t>
            </a:r>
            <a:r>
              <a:rPr lang="en" sz="1200">
                <a:solidFill>
                  <a:schemeClr val="dk1"/>
                </a:solidFill>
              </a:rPr>
              <a:t>R</a:t>
            </a:r>
            <a:r>
              <a:rPr lang="en" sz="1200">
                <a:solidFill>
                  <a:schemeClr val="dk1"/>
                </a:solidFill>
              </a:rPr>
              <a:t>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is_started (or leading_zeros)</a:t>
            </a:r>
            <a:r>
              <a:rPr lang="en" sz="1200">
                <a:solidFill>
                  <a:schemeClr val="dk1"/>
                </a:solidFill>
              </a:rPr>
              <a:t>: A boolean flag indicating whether we have placed any non-zero digit yet.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Other State Variables</a:t>
            </a:r>
            <a:r>
              <a:rPr lang="en" sz="1200">
                <a:solidFill>
                  <a:schemeClr val="dk1"/>
                </a:solidFill>
              </a:rPr>
              <a:t>: These are specific to the problem's property. For example: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sum</a:t>
            </a:r>
            <a:r>
              <a:rPr lang="en" sz="1200">
                <a:solidFill>
                  <a:schemeClr val="dk1"/>
                </a:solidFill>
              </a:rPr>
              <a:t>: If the problem involves the sum of digits.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remainder</a:t>
            </a:r>
            <a:r>
              <a:rPr lang="en" sz="1200">
                <a:solidFill>
                  <a:schemeClr val="dk1"/>
                </a:solidFill>
              </a:rPr>
              <a:t>: If the problem involves divisibility by a certain number.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last_digit</a:t>
            </a:r>
            <a:r>
              <a:rPr lang="en" sz="1200">
                <a:solidFill>
                  <a:schemeClr val="dk1"/>
                </a:solidFill>
              </a:rPr>
              <a:t>: If the property depends on adjacent digits.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count_digits</a:t>
            </a:r>
            <a:r>
              <a:rPr lang="en" sz="1200">
                <a:solidFill>
                  <a:schemeClr val="dk1"/>
                </a:solidFill>
              </a:rPr>
              <a:t>: If we need to count occurrences of a specific digit.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SPOJ - CPCRC1C - Sum of Digits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Given two non-negative integers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" sz="1200">
                <a:solidFill>
                  <a:schemeClr val="dk1"/>
                </a:solidFill>
              </a:rPr>
              <a:t>, where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 &lt;= b</a:t>
            </a:r>
            <a:r>
              <a:rPr lang="en" sz="1200">
                <a:solidFill>
                  <a:schemeClr val="dk1"/>
                </a:solidFill>
              </a:rPr>
              <a:t>. The problem is to find the sum of digits of all numbers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" sz="1200">
                <a:solidFill>
                  <a:schemeClr val="dk1"/>
                </a:solidFill>
              </a:rPr>
              <a:t> such that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 &lt;= x &lt;=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Constraints: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 &lt;= a &lt;= b &lt;= 10^9</a:t>
            </a:r>
            <a:endParaRPr sz="1200"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Codeforces - 55D - Beautiful numbers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A number is considered beautiful if it is divisible by each of its non-zero digits. Find the number of beautiful numbers in the range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[l, r]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Input:</a:t>
            </a:r>
            <a:r>
              <a:rPr lang="en" sz="1200">
                <a:solidFill>
                  <a:schemeClr val="dk1"/>
                </a:solidFill>
              </a:rPr>
              <a:t> The first line of the input contains an integer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200">
                <a:solidFill>
                  <a:schemeClr val="dk1"/>
                </a:solidFill>
              </a:rPr>
              <a:t> (1 ≤ t ≤ 10), the number of test cases. Each of the next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200">
                <a:solidFill>
                  <a:schemeClr val="dk1"/>
                </a:solidFill>
              </a:rPr>
              <a:t> lines contains two integers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 sz="1200">
                <a:solidFill>
                  <a:schemeClr val="dk1"/>
                </a:solidFill>
              </a:rPr>
              <a:t> (1 ≤ l ≤ r ≤ 9·10^18).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Codeforces - 55D - Beautiful numbers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Solution: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Utilize dynamic programming with state parameters including number length, divisibility flag, remainder of division by LCM of digits, and a mask of used digits.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Codeforces - 55D - Beautiful numbers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Solution: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Utilize dynamic programming with state parameters including number length, divisibility flag, remainder of division by LCM of digits, and a mask of used digits.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Reduce state space by leveraging number theory, specifically maintain the lcm of digits, not the mask, to decrease the number of values.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Codeforces - 55D - Beautiful numbers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Solution: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Utilize dynamic programming with state parameters including number length, divisibility flag, remainder of division by LCM of digits, and a mask of used digits.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Reduce state space by leveraging number theory, specifically maintain the lcm of digits, not the mask, to decrease the number of values.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Number theory optimization reduces running time by eliminating transitions to digits 5 and 2.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AtCoder - Educational DP Contest - K - Digit Sum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Find the number of integers between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n" sz="1200">
                <a:solidFill>
                  <a:schemeClr val="dk1"/>
                </a:solidFill>
              </a:rPr>
              <a:t> (inclusive) such that the sum of their digits is a multiple of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Input:</a:t>
            </a:r>
            <a:r>
              <a:rPr lang="en" sz="1200">
                <a:solidFill>
                  <a:schemeClr val="dk1"/>
                </a:solidFill>
              </a:rPr>
              <a:t> The input consists of two integers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 (1 ≤ K &lt; 10^10000)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(1 ≤ D ≤ 100)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Output:</a:t>
            </a:r>
            <a:r>
              <a:rPr lang="en" sz="1200">
                <a:solidFill>
                  <a:schemeClr val="dk1"/>
                </a:solidFill>
              </a:rPr>
              <a:t> Print the count modulo 10^9 + 7.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+ DP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Description: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DP problems where the state involves substrings or subsequences of one or more strings. Classic examples include Longest Common Subsequence (LCS) and Edit Distance.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Resources:</a:t>
            </a:r>
            <a:endParaRPr sz="1900"/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Longest Common Subsequence (LCS) - GeeksforGeeks</a:t>
            </a:r>
            <a:endParaRPr sz="1200" u="sng">
              <a:solidFill>
                <a:schemeClr val="hlink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GeeksforGeeks - Edit Distance</a:t>
            </a:r>
            <a:endParaRPr sz="19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ডাইনামিক প্রোগ্রামিং ৪ (লংগেস্ট কমন সাবসিকোয়েন্স) | শাফায়েতের ব্লগ</a:t>
            </a:r>
            <a:endParaRPr sz="1900"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AtCoder - Educational DP Contest - F - LCS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Given two strings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200">
                <a:solidFill>
                  <a:schemeClr val="dk1"/>
                </a:solidFill>
              </a:rPr>
              <a:t>, find one longest common subsequence of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Input:</a:t>
            </a:r>
            <a:r>
              <a:rPr lang="en" sz="1200">
                <a:solidFill>
                  <a:schemeClr val="dk1"/>
                </a:solidFill>
              </a:rPr>
              <a:t> The first line contains string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" sz="1200">
                <a:solidFill>
                  <a:schemeClr val="dk1"/>
                </a:solidFill>
              </a:rPr>
              <a:t>, and the second line contains string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200">
                <a:solidFill>
                  <a:schemeClr val="dk1"/>
                </a:solidFill>
              </a:rPr>
              <a:t>. (1 ≤ |s|, |t| ≤ 3000).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Output:</a:t>
            </a:r>
            <a:r>
              <a:rPr lang="en" sz="1200">
                <a:solidFill>
                  <a:schemeClr val="dk1"/>
                </a:solidFill>
              </a:rPr>
              <a:t> Print one of the longest common subsequences.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AtCoder - Educational DP Contest - F - LCS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Given two strings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200">
                <a:solidFill>
                  <a:schemeClr val="dk1"/>
                </a:solidFill>
              </a:rPr>
              <a:t>, find one longest common subsequence of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" sz="1200">
                <a:solidFill>
                  <a:schemeClr val="dk1"/>
                </a:solidFill>
              </a:rPr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 = </a:t>
            </a: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"xabcd"</a:t>
            </a:r>
            <a:endParaRPr sz="120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</a:rPr>
              <a:t>T = "yazc"</a:t>
            </a:r>
            <a:endParaRPr sz="120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CSES - Edit Distance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The edit distance between two strings is the minimum number of operations required to transform one string into the other. The allowed operations are: adding a character, removing a character, and modifying a character. 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Input:</a:t>
            </a:r>
            <a:r>
              <a:rPr lang="en" sz="1200">
                <a:solidFill>
                  <a:schemeClr val="dk1"/>
                </a:solidFill>
              </a:rPr>
              <a:t> The first line has a string of length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1200">
                <a:solidFill>
                  <a:schemeClr val="dk1"/>
                </a:solidFill>
              </a:rPr>
              <a:t>, and the second line has a string of length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en" sz="1200">
                <a:solidFill>
                  <a:schemeClr val="dk1"/>
                </a:solidFill>
              </a:rPr>
              <a:t>. (1 ≤ n, m ≤ 5000). 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Output:</a:t>
            </a:r>
            <a:r>
              <a:rPr lang="en" sz="1200">
                <a:solidFill>
                  <a:schemeClr val="dk1"/>
                </a:solidFill>
              </a:rPr>
              <a:t> Print one integer: the edit distance between the strings.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CSES - Edit Distance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DP States?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Longest Palindromic Substring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Given a string S, find the length of the longest substring inside S which is also a palindrome.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DP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Description:</a:t>
            </a:r>
            <a:r>
              <a:rPr lang="en" sz="1100">
                <a:solidFill>
                  <a:schemeClr val="dk1"/>
                </a:solidFill>
              </a:rPr>
              <a:t> DP on trees, where subproblems are defined on the subtrees of a node. A DFS traversal is typically used to compute the DP states from children to parent.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Resources: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Codeforces - Tree DP Tutorial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TopCoder - Dynamic Programming on Trees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মিনিমাম ভারটেক্স কভার প্রবলেম | শাফায়েতের ব্লগ</a:t>
            </a:r>
            <a:endParaRPr sz="1100" u="sng">
              <a:solidFill>
                <a:schemeClr val="hlink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Type 1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You are given a tree where each node is either white or black. Now for each of the node u, you have to find the number of white nodes in the </a:t>
            </a:r>
            <a:r>
              <a:rPr lang="en" sz="1200">
                <a:solidFill>
                  <a:schemeClr val="dk1"/>
                </a:solidFill>
              </a:rPr>
              <a:t>subtree</a:t>
            </a:r>
            <a:r>
              <a:rPr lang="en" sz="1200">
                <a:solidFill>
                  <a:schemeClr val="dk1"/>
                </a:solidFill>
              </a:rPr>
              <a:t> of u.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Type 2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Minimum vertex cover problem. You will be given a tree. You need to find the minimum number of vertex to turn light on such that, each of the edges in the tree is connected with at least one lighted vertex.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963" y="2493725"/>
            <a:ext cx="5310075" cy="159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Type 2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381000"/>
            <a:ext cx="28575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2675575"/>
            <a:ext cx="73152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LightOJ - 1257 - Farthest Nodes in a Tree (II)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 Statement:</a:t>
            </a:r>
            <a:r>
              <a:rPr lang="en" sz="1200">
                <a:solidFill>
                  <a:schemeClr val="dk1"/>
                </a:solidFill>
              </a:rPr>
              <a:t> You are given a tree with weighted edges. For each node, find the distance to the farthest node from it.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2089200"/>
            <a:ext cx="28575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LightOJ - 1257 - Farthest Nodes in a Tree (II)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Solution Idea:</a:t>
            </a:r>
            <a:r>
              <a:rPr lang="en" sz="1200">
                <a:solidFill>
                  <a:schemeClr val="dk1"/>
                </a:solidFill>
              </a:rPr>
              <a:t> This requires two DFS traversals.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</a:rPr>
              <a:t>First DFS (post-order):</a:t>
            </a:r>
            <a:r>
              <a:rPr lang="en" sz="1200">
                <a:solidFill>
                  <a:schemeClr val="dk1"/>
                </a:solidFill>
              </a:rPr>
              <a:t> For each node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en" sz="1200">
                <a:solidFill>
                  <a:schemeClr val="dk1"/>
                </a:solidFill>
              </a:rPr>
              <a:t>, compute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down[u]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</a:rPr>
              <a:t>Second DFS (pre-order):</a:t>
            </a:r>
            <a:r>
              <a:rPr lang="en" sz="1200">
                <a:solidFill>
                  <a:schemeClr val="dk1"/>
                </a:solidFill>
              </a:rPr>
              <a:t> For each node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en" sz="1200">
                <a:solidFill>
                  <a:schemeClr val="dk1"/>
                </a:solidFill>
              </a:rPr>
              <a:t>, compute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up[u]</a:t>
            </a:r>
            <a:r>
              <a:rPr lang="en" sz="1200">
                <a:solidFill>
                  <a:schemeClr val="dk1"/>
                </a:solidFill>
              </a:rPr>
              <a:t>. The value of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up[v]</a:t>
            </a:r>
            <a:r>
              <a:rPr lang="en" sz="1200">
                <a:solidFill>
                  <a:schemeClr val="dk1"/>
                </a:solidFill>
              </a:rPr>
              <a:t> for a child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n" sz="1200">
                <a:solidFill>
                  <a:schemeClr val="dk1"/>
                </a:solidFill>
              </a:rPr>
              <a:t> depends on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up[u]</a:t>
            </a:r>
            <a:r>
              <a:rPr lang="en" sz="1200">
                <a:solidFill>
                  <a:schemeClr val="dk1"/>
                </a:solidFill>
              </a:rPr>
              <a:t> of its parent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en" sz="1200">
                <a:solidFill>
                  <a:schemeClr val="dk1"/>
                </a:solidFill>
              </a:rPr>
              <a:t> and the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down</a:t>
            </a:r>
            <a:r>
              <a:rPr lang="en" sz="1200">
                <a:solidFill>
                  <a:schemeClr val="dk1"/>
                </a:solidFill>
              </a:rPr>
              <a:t> paths of its siblings. The final answer for each node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en" sz="1200">
                <a:solidFill>
                  <a:schemeClr val="dk1"/>
                </a:solidFill>
              </a:rPr>
              <a:t> is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max(down[u], up[u])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Chain Multiplication (MCM)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Description:</a:t>
            </a:r>
            <a:r>
              <a:rPr lang="en" sz="1100">
                <a:solidFill>
                  <a:schemeClr val="dk1"/>
                </a:solidFill>
              </a:rPr>
              <a:t> A DP paradigm where the optimal solution for an interval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[i, j]</a:t>
            </a:r>
            <a:r>
              <a:rPr lang="en" sz="1100">
                <a:solidFill>
                  <a:schemeClr val="dk1"/>
                </a:solidFill>
              </a:rPr>
              <a:t> is derived from the optimal solutions of its sub-intervals.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Resources: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GeeksforGeeks - Matrix Chain Multiplication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ডাইনামিক প্রোগ্রামিং ৭ (ম‍্যাট্রিক্স চেইন মাল্টিপ্লিকেশন) | শাফায়েতের ব্লগ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To calculate the result of a range (u-v), partition it at x and then merge the result of range (u-x) and (x-v). Of course we can partition at all the available x between u and v. We will select the optimal one among them.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A1: (10 x 100) 	A2: (100 x 5) 		A3: (5 x 50)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(A1 x A2) x A3 =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A1 x (A2 x A3) =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Game DP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Description:</a:t>
            </a:r>
            <a:r>
              <a:rPr lang="en" sz="1100">
                <a:solidFill>
                  <a:schemeClr val="dk1"/>
                </a:solidFill>
              </a:rPr>
              <a:t> Applying DP to solve impartial games. The state usually represents a game position, and the value is whether it's a winning or losing position. A state is winning if there's a move to a losing state; otherwise, it's losing.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Resources: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CP-Algorithms - Games on arbitrary graphs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GeeksforGeeks - Game Theory and Grundy Numbers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অ্যালগরিদম গেম থিওরি - ১ - শাফায়েতের ব্লগ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1" name="Google Shape;22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AtCoder - Educational DP Contest - K - Stones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Problem Statement:</a:t>
            </a:r>
            <a:r>
              <a:rPr lang="en" sz="1100">
                <a:solidFill>
                  <a:schemeClr val="dk1"/>
                </a:solidFill>
              </a:rPr>
              <a:t> There is a heap of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n" sz="1100">
                <a:solidFill>
                  <a:schemeClr val="dk1"/>
                </a:solidFill>
              </a:rPr>
              <a:t> stones. Two players, Taro and Jiro, take turns playing a game. In each turn, a player chooses a number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a_i</a:t>
            </a:r>
            <a:r>
              <a:rPr lang="en" sz="1100">
                <a:solidFill>
                  <a:schemeClr val="dk1"/>
                </a:solidFill>
              </a:rPr>
              <a:t> from a given set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" sz="1100">
                <a:solidFill>
                  <a:schemeClr val="dk1"/>
                </a:solidFill>
              </a:rPr>
              <a:t> and removes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a_i</a:t>
            </a:r>
            <a:r>
              <a:rPr lang="en" sz="1100">
                <a:solidFill>
                  <a:schemeClr val="dk1"/>
                </a:solidFill>
              </a:rPr>
              <a:t> stones from the heap. The player who cannot make a move loses. Determine the winner assuming optimal play. 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Input:</a:t>
            </a:r>
            <a:r>
              <a:rPr lang="en" sz="1100">
                <a:solidFill>
                  <a:schemeClr val="dk1"/>
                </a:solidFill>
              </a:rPr>
              <a:t> Two integers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n" sz="1100">
                <a:solidFill>
                  <a:schemeClr val="dk1"/>
                </a:solidFill>
              </a:rPr>
              <a:t>. The second line contains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1100">
                <a:solidFill>
                  <a:schemeClr val="dk1"/>
                </a:solidFill>
              </a:rPr>
              <a:t> distinct positive integers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a_1, a_2, ..., a_N</a:t>
            </a:r>
            <a:r>
              <a:rPr lang="en" sz="1100">
                <a:solidFill>
                  <a:schemeClr val="dk1"/>
                </a:solidFill>
              </a:rPr>
              <a:t>. 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</a:rPr>
              <a:t>Output:</a:t>
            </a:r>
            <a:r>
              <a:rPr lang="en" sz="1100">
                <a:solidFill>
                  <a:schemeClr val="dk1"/>
                </a:solidFill>
              </a:rPr>
              <a:t> Print "First" if the first player (Taro) wins, otherwise print "Second".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28" name="Google Shape;22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16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Solution Idea: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Define dp[i] to represent whether having i stones is a winning position.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position i is winning if there exists a move a in set A such that the resulting position i-a is a losing position.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Compute dp[i] from i=0 to K, with dp[0] initialized to false. For each i, check all possible moves a in A and set dp[i] to the logical OR of !dp[i-a] for all a in 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2101950"/>
            <a:ext cx="8520600" cy="9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5200"/>
              <a:t>Thank You</a:t>
            </a:r>
            <a:endParaRPr sz="4120"/>
          </a:p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